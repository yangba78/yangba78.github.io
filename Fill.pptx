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53"/>
  </p:normalViewPr>
  <p:slideViewPr>
    <p:cSldViewPr snapToGrid="0">
      <p:cViewPr varScale="1">
        <p:scale>
          <a:sx n="175" d="100"/>
          <a:sy n="175" d="100"/>
        </p:scale>
        <p:origin x="68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d552c85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30d552c85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0ea69b45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0ea69b45c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refers model uncertainty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0ea69b45c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0ea69b45c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d552c85f3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0d552c85f3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d552c85f3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d552c85f3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d552c85f3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0d552c85f3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0d552c85f3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0d552c85f3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d552c85f3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0d552c85f3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d552c85f3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0d552c85f3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ea69b45c6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0ea69b45c6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ea69b45c6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ea69b45c6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0ea69b45c6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0ea69b45c6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ea69b45c6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0ea69b45c6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0d552c85f3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0d552c85f3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jpg"/><Relationship Id="rId11" Type="http://schemas.openxmlformats.org/officeDocument/2006/relationships/image" Target="../media/image25.png"/><Relationship Id="rId5" Type="http://schemas.openxmlformats.org/officeDocument/2006/relationships/image" Target="../media/image19.jpg"/><Relationship Id="rId10" Type="http://schemas.openxmlformats.org/officeDocument/2006/relationships/image" Target="../media/image24.png"/><Relationship Id="rId4" Type="http://schemas.openxmlformats.org/officeDocument/2006/relationships/image" Target="../media/image18.jp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80075" y="600700"/>
            <a:ext cx="8520600" cy="18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80" i="1">
                <a:solidFill>
                  <a:schemeClr val="accent1"/>
                </a:solidFill>
              </a:rPr>
              <a:t>Fill In The Gaps</a:t>
            </a:r>
            <a:r>
              <a:rPr lang="en" sz="4280">
                <a:solidFill>
                  <a:schemeClr val="accent1"/>
                </a:solidFill>
              </a:rPr>
              <a:t>: Model Calibration and Generalization with Synthetic Data</a:t>
            </a:r>
            <a:endParaRPr sz="4280">
              <a:solidFill>
                <a:schemeClr val="accent1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8075" y="2996823"/>
            <a:ext cx="85206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"/>
              <a:t>Yang Ba, Michelle V. Mancenido, Rong Pan 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39000" y="3932925"/>
            <a:ext cx="4271652" cy="105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Classifier Evaluation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5085900" y="1264119"/>
            <a:ext cx="3746400" cy="17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When evaluating a classifier, we usually use metrics such as: accuracy, F1, ROC etc.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130100" y="3149025"/>
            <a:ext cx="4028700" cy="18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Two models: 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90% accuracy, 91% confidence in predictions 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90% accuracy, 99% confidence in predictions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25" y="1337225"/>
            <a:ext cx="3507624" cy="350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8875" y="4379275"/>
            <a:ext cx="227125" cy="22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Uncertainty</a:t>
            </a: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012200" cy="20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high stake areas, model uncertainty even more important.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8325" y="1669750"/>
            <a:ext cx="1635900" cy="152095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940375" y="3297000"/>
            <a:ext cx="163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stock trading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0175" y="1669750"/>
            <a:ext cx="1532925" cy="15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4982700" y="3710100"/>
            <a:ext cx="410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785263" y="3297000"/>
            <a:ext cx="212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disease diagnosis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836700" y="5241325"/>
            <a:ext cx="504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2943600" y="3991150"/>
            <a:ext cx="1748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51% vs 99%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980175" y="4502425"/>
            <a:ext cx="6923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06666"/>
                </a:solidFill>
              </a:rPr>
              <a:t>Will your actions be different according to these two different prediction confidences?  </a:t>
            </a:r>
            <a:endParaRPr sz="1800">
              <a:solidFill>
                <a:srgbClr val="E06666"/>
              </a:solidFill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6975" y="3783262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1000" y="3805625"/>
            <a:ext cx="797050" cy="6803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733"/>
    </mc:Choice>
    <mc:Fallback xmlns="">
      <p:transition spd="slow" advTm="567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54800" y="450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Model Calibration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800" y="1508901"/>
            <a:ext cx="1826100" cy="158191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0" y="1496850"/>
            <a:ext cx="2805000" cy="22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Calibration: </a:t>
            </a:r>
            <a:r>
              <a:rPr lang="en">
                <a:solidFill>
                  <a:schemeClr val="dk1"/>
                </a:solidFill>
              </a:rPr>
              <a:t>to</a:t>
            </a:r>
            <a:r>
              <a:rPr lang="en" b="1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align a model’s predicted probabilities (confidence) with its actual outcomes (accuracy).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Evaluation Metric</a:t>
            </a:r>
            <a:r>
              <a:rPr lang="en">
                <a:solidFill>
                  <a:schemeClr val="dk1"/>
                </a:solidFill>
              </a:rPr>
              <a:t>: Expected Calibration Error (ECE)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8175" y="1530848"/>
            <a:ext cx="1848794" cy="15201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>
            <a:off x="5020201" y="2241950"/>
            <a:ext cx="1506900" cy="31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4825300" y="1780250"/>
            <a:ext cx="203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Calibrate models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3046474" y="3277700"/>
            <a:ext cx="17322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Reliability Diagram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857800" y="3284206"/>
            <a:ext cx="18261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Reliability Diagram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813700" y="4132550"/>
            <a:ext cx="5713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95" name="Google Shape;95;p16" title="[0,0,0,&quot;https://www.codecogs.com/eqnedit.php?latex=%5Ctext%7BECE%7D%20%3D%20%5Csum_%7Bm%3D1%7D%5EM%20%5Cfrac%7B%7CB_m%7C%7D%7Bn%7D%20%5Cleft%7C%20%5Ctext%7BAcc%7D(B_m)%20-%20%5Ctext%7BConf%7D(B_m)%20%5Cright%7C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3275" y="4184300"/>
            <a:ext cx="4144469" cy="3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body" idx="1"/>
          </p:nvPr>
        </p:nvSpPr>
        <p:spPr>
          <a:xfrm>
            <a:off x="282125" y="1167275"/>
            <a:ext cx="8520600" cy="22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The current calibration methods only focus on calibration and ignore model accuracy, which will either potentially hurt the model prediction performance or maintain it, such as </a:t>
            </a:r>
            <a:r>
              <a:rPr lang="en" sz="2000" i="1">
                <a:solidFill>
                  <a:schemeClr val="dk1"/>
                </a:solidFill>
              </a:rPr>
              <a:t>Isotonic regression,Platt scaling</a:t>
            </a:r>
            <a:r>
              <a:rPr lang="en" sz="2000">
                <a:solidFill>
                  <a:schemeClr val="dk1"/>
                </a:solidFill>
              </a:rPr>
              <a:t>, </a:t>
            </a:r>
            <a:r>
              <a:rPr lang="en" sz="2000" i="1">
                <a:solidFill>
                  <a:schemeClr val="dk1"/>
                </a:solidFill>
              </a:rPr>
              <a:t>Monte Carlo dropout, Temperature scaling. 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1">
              <a:solidFill>
                <a:srgbClr val="3C78D8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388425" y="3608825"/>
            <a:ext cx="8172000" cy="9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 b="1">
                <a:solidFill>
                  <a:srgbClr val="3C78D8"/>
                </a:solidFill>
              </a:rPr>
              <a:t>Can we calibrate models while improving accuracy, or at least without sacrificing it?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464575" y="395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Proposed Framework</a:t>
            </a:r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268100" y="4048725"/>
            <a:ext cx="8465100" cy="9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We develop a theoretical framework to solve this problem, leveraging LLM-generated synthetic data to calibrate downstream NLP models and increase their accuracy at the same time. </a:t>
            </a:r>
            <a:endParaRPr>
              <a:solidFill>
                <a:schemeClr val="dk1"/>
              </a:solidFill>
            </a:endParaRPr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We extend Probably Approximately Correct (PAC) learning framework to derive the </a:t>
            </a:r>
            <a:r>
              <a:rPr lang="en" b="1">
                <a:solidFill>
                  <a:schemeClr val="dk1"/>
                </a:solidFill>
              </a:rPr>
              <a:t>Expected Calibration Error Bound</a:t>
            </a:r>
            <a:r>
              <a:rPr lang="en">
                <a:solidFill>
                  <a:schemeClr val="dk1"/>
                </a:solidFill>
              </a:rPr>
              <a:t>, guiding us in synthetic data generation and model calibration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50" y="1556750"/>
            <a:ext cx="8520602" cy="222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/>
          <p:nvPr/>
        </p:nvSpPr>
        <p:spPr>
          <a:xfrm>
            <a:off x="3499725" y="1684975"/>
            <a:ext cx="2215800" cy="1002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6300325" y="1590825"/>
            <a:ext cx="2640300" cy="1002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3499725" y="2687575"/>
            <a:ext cx="5012100" cy="1172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298725" y="1755599"/>
            <a:ext cx="3789600" cy="2076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Calibration Error Bound</a:t>
            </a:r>
            <a:endParaRPr/>
          </a:p>
        </p:txBody>
      </p:sp>
      <p:pic>
        <p:nvPicPr>
          <p:cNvPr id="119" name="Google Shape;119;p19" title="[89,89,89,&quot;https://www.codecogs.com/eqnedit.php?latex=%5Cnoindent%5Ctextbf%7BProposition.%7D%20%5Ctextit%7BGiven%20%24n%24%20training%20samples%2C%20if%20the%20probability%20of%20the%20difference%20between%20the%20expected%20model%20parameter%20and%20its%20estimated%20value%20being%20less%20than%20%24%5Cepsilon_a%24%20is%20at%20least%20%24(1-%5Cdelta_a)%5C%25%24%2C%20then%20the%20probability%20of%20the%20difference%20between%20the%20expected%20calibration%20error%20and%20the%20estimated%20calibration%20error%20in%20the%20training%20samples%20being%20less%20than%20%24%5Cepsilon_%7BECE%7D%24%20is%20at%20least%20%24(1-%5Cdelta_%7BECE%7D)%5C%25%24.%20Here%2C%20%24%5Cdelta_%7BECE%7D%20%3D%202%5Cdelta_a%24%2C%20and%20%24%5Cepsilon_%7BECE%7D%20%3D%20%5Cepsilon_a%20%2B%20%5Cleft%7C%5Ctext%7BConf%7D(X)%20-%20%5Ctext%7BConf%7D(X%5E*)%5Cright%7C%24%20%3D%20%24%5Cepsilon_a%24%20%2B%20%24%5Csum_%7Bm%3D1%7D%5EM%20%5Cfrac%7B%7CB_m%7C%7D%7Bn%7D%5Cleft%7C%5Ctext%7BConf%7D(B_m)%20-%20%5Ctext%7BConf%7D(B_m%5E*)%5Cright%7C%24.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00" y="1146738"/>
            <a:ext cx="8520595" cy="2287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901975" y="3678850"/>
            <a:ext cx="6983400" cy="11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Based on ECE bound, we can manipulate the prediction probability by synthetic data to minimize the difference                         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chemeClr val="dk1"/>
                </a:solidFill>
              </a:rPr>
              <a:t>                                         </a:t>
            </a:r>
            <a:endParaRPr sz="12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chemeClr val="dk1"/>
                </a:solidFill>
              </a:rPr>
              <a:t>          </a:t>
            </a:r>
            <a:endParaRPr sz="1200" i="1">
              <a:solidFill>
                <a:schemeClr val="dk1"/>
              </a:solidFill>
            </a:endParaRPr>
          </a:p>
        </p:txBody>
      </p:sp>
      <p:pic>
        <p:nvPicPr>
          <p:cNvPr id="121" name="Google Shape;121;p19" title="[0,0,0,&quot;https://www.codecogs.com/eqnedit.php?latex=%5Cleft%7C%5Ctext%7BConf%7D(X)%20-%20%5Ctext%7BConf%7D(X%5E*)%5Cright%7C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7200" y="4105075"/>
            <a:ext cx="2036699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4758900" y="4739125"/>
            <a:ext cx="438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>
                <a:solidFill>
                  <a:schemeClr val="dk1"/>
                </a:solidFill>
              </a:rPr>
              <a:t>(Refer the paper to check out the detailed proof and remarks.)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Synthetic Data Generation Strategy</a:t>
            </a:r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6366500" y="1134250"/>
            <a:ext cx="2554500" cy="32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Generating synthetic data to address miscalibration gaps.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25" y="2955525"/>
            <a:ext cx="2190651" cy="161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5025" y="2926700"/>
            <a:ext cx="3046576" cy="167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329" y="984825"/>
            <a:ext cx="5865147" cy="185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/>
          <p:nvPr/>
        </p:nvSpPr>
        <p:spPr>
          <a:xfrm>
            <a:off x="1679650" y="1523800"/>
            <a:ext cx="2046600" cy="601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3758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Toy example</a:t>
            </a:r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6340850" y="1358025"/>
            <a:ext cx="24915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395">
                <a:solidFill>
                  <a:srgbClr val="4A86E8"/>
                </a:solidFill>
              </a:rPr>
              <a:t>Original  fitted model : </a:t>
            </a:r>
            <a:endParaRPr sz="1395">
              <a:solidFill>
                <a:srgbClr val="4A86E8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395"/>
              <a:t>     </a:t>
            </a:r>
            <a:r>
              <a:rPr lang="en" sz="1395">
                <a:solidFill>
                  <a:srgbClr val="4A86E8"/>
                </a:solidFill>
              </a:rPr>
              <a:t>= -0.06 and      = 1.13,   ACC: 0.95, ECE: 0.0405; </a:t>
            </a:r>
            <a:endParaRPr sz="1395">
              <a:solidFill>
                <a:srgbClr val="4A86E8"/>
              </a:solidFill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063" y="1192873"/>
            <a:ext cx="2491574" cy="185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3175" y="1183026"/>
            <a:ext cx="2439549" cy="1811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218351"/>
            <a:ext cx="2558299" cy="189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3175" y="3245225"/>
            <a:ext cx="2461350" cy="181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6446375" y="2860225"/>
            <a:ext cx="24915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95">
                <a:solidFill>
                  <a:srgbClr val="E69138"/>
                </a:solidFill>
              </a:rPr>
              <a:t>Newly fitted model : </a:t>
            </a:r>
            <a:endParaRPr sz="1395">
              <a:solidFill>
                <a:srgbClr val="E69138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395">
                <a:solidFill>
                  <a:srgbClr val="E69138"/>
                </a:solidFill>
              </a:rPr>
              <a:t>     = -0.339 and      = 1.2627,  ACC: 0.95327, ECE: 0.0424;</a:t>
            </a:r>
            <a:r>
              <a:rPr lang="en" sz="1395"/>
              <a:t> </a:t>
            </a:r>
            <a:endParaRPr sz="1395"/>
          </a:p>
        </p:txBody>
      </p:sp>
      <p:sp>
        <p:nvSpPr>
          <p:cNvPr id="144" name="Google Shape;144;p21"/>
          <p:cNvSpPr txBox="1">
            <a:spLocks noGrp="1"/>
          </p:cNvSpPr>
          <p:nvPr>
            <p:ph type="body" idx="1"/>
          </p:nvPr>
        </p:nvSpPr>
        <p:spPr>
          <a:xfrm>
            <a:off x="6446375" y="3983525"/>
            <a:ext cx="2598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95">
                <a:solidFill>
                  <a:srgbClr val="38761D"/>
                </a:solidFill>
              </a:rPr>
              <a:t>Newly fitted model 2 : </a:t>
            </a:r>
            <a:endParaRPr sz="1395">
              <a:solidFill>
                <a:srgbClr val="38761D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395">
                <a:solidFill>
                  <a:srgbClr val="38761D"/>
                </a:solidFill>
              </a:rPr>
              <a:t>    = -0.2558 and     = 1.2953, ACC: 0.9469, ECE: 0.0366; </a:t>
            </a:r>
            <a:endParaRPr sz="1395">
              <a:solidFill>
                <a:srgbClr val="38761D"/>
              </a:solidFill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2979425" y="2032925"/>
            <a:ext cx="623700" cy="233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2979425" y="3881750"/>
            <a:ext cx="623700" cy="233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7" name="Google Shape;147;p21" title="[74,134,232,&quot;https://www.codecogs.com/eqnedit.php?latex=%5Cbeta_%7B1%7D#0&quot;]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66604" y="1833894"/>
            <a:ext cx="142836" cy="14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 title="[74,134,232,&quot;https://www.codecogs.com/eqnedit.php?latex=%5Cbeta_0#0&quot;]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68224" y="1836123"/>
            <a:ext cx="147638" cy="14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 title="[230,145,56,&quot;https://www.codecogs.com/eqnedit.php?latex=%5Cbeta_%7B0%7D#0&quot;]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64530" y="3321300"/>
            <a:ext cx="147638" cy="14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 title="[230,145,56,&quot;https://www.codecogs.com/eqnedit.php?latex=%5Cbeta_%7B1%7D#0&quot;]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63675" y="3321300"/>
            <a:ext cx="142836" cy="14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1" title="[56,118,29,&quot;https://www.codecogs.com/eqnedit.php?latex=%5Cbeta_%7B0%7D#0&quot;]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42576" y="4432275"/>
            <a:ext cx="147638" cy="14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 title="[56,118,29,&quot;https://www.codecogs.com/eqnedit.php?latex=%5Cbeta_%7B1%7D#0&quot;]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911030" y="4447069"/>
            <a:ext cx="142836" cy="147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311700" y="1306825"/>
            <a:ext cx="85206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530" b="1">
                <a:solidFill>
                  <a:schemeClr val="dk1"/>
                </a:solidFill>
              </a:rPr>
              <a:t>Tasks:</a:t>
            </a:r>
            <a:r>
              <a:rPr lang="en" sz="1530">
                <a:solidFill>
                  <a:schemeClr val="dk1"/>
                </a:solidFill>
              </a:rPr>
              <a:t> TC, SUBJ, B77, SE, Arxiv, Medical </a:t>
            </a:r>
            <a:endParaRPr sz="153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530" b="1">
                <a:solidFill>
                  <a:schemeClr val="dk1"/>
                </a:solidFill>
              </a:rPr>
              <a:t>Model:</a:t>
            </a:r>
            <a:r>
              <a:rPr lang="en" sz="1530">
                <a:solidFill>
                  <a:schemeClr val="dk1"/>
                </a:solidFill>
              </a:rPr>
              <a:t>  </a:t>
            </a:r>
            <a:endParaRPr sz="153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530" b="1">
                <a:solidFill>
                  <a:schemeClr val="dk1"/>
                </a:solidFill>
              </a:rPr>
              <a:t>Baseline: </a:t>
            </a:r>
            <a:r>
              <a:rPr lang="en" sz="1530">
                <a:solidFill>
                  <a:schemeClr val="dk1"/>
                </a:solidFill>
              </a:rPr>
              <a:t>without any calibration </a:t>
            </a:r>
            <a:endParaRPr sz="153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530" b="1">
                <a:solidFill>
                  <a:schemeClr val="dk1"/>
                </a:solidFill>
              </a:rPr>
              <a:t>Synthesis: </a:t>
            </a:r>
            <a:r>
              <a:rPr lang="en" sz="1530">
                <a:solidFill>
                  <a:schemeClr val="dk1"/>
                </a:solidFill>
              </a:rPr>
              <a:t>synthetic data replacement (keep the training data size the same) </a:t>
            </a:r>
            <a:endParaRPr sz="153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530" b="1">
                <a:solidFill>
                  <a:schemeClr val="dk1"/>
                </a:solidFill>
              </a:rPr>
              <a:t>Synthesis+: </a:t>
            </a:r>
            <a:r>
              <a:rPr lang="en" sz="1530">
                <a:solidFill>
                  <a:schemeClr val="dk1"/>
                </a:solidFill>
              </a:rPr>
              <a:t>synthetic data add-on  (increase the training data size)</a:t>
            </a:r>
            <a:endParaRPr sz="153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530" b="1">
                <a:solidFill>
                  <a:schemeClr val="dk1"/>
                </a:solidFill>
              </a:rPr>
              <a:t>Comparison:</a:t>
            </a:r>
            <a:r>
              <a:rPr lang="en" sz="1530">
                <a:solidFill>
                  <a:schemeClr val="dk1"/>
                </a:solidFill>
              </a:rPr>
              <a:t> Isotonic regression, Platt scaling, Monte Carlo dropout, Temperature scaling</a:t>
            </a:r>
            <a:endParaRPr sz="153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530" b="1">
                <a:solidFill>
                  <a:schemeClr val="dk1"/>
                </a:solidFill>
              </a:rPr>
              <a:t>N_bins: </a:t>
            </a:r>
            <a:r>
              <a:rPr lang="en" sz="1530">
                <a:solidFill>
                  <a:schemeClr val="dk1"/>
                </a:solidFill>
              </a:rPr>
              <a:t>10, 15, 20</a:t>
            </a:r>
            <a:endParaRPr sz="153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530"/>
              <a:t>   </a:t>
            </a:r>
            <a:endParaRPr sz="153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530"/>
          </a:p>
        </p:txBody>
      </p:sp>
      <p:pic>
        <p:nvPicPr>
          <p:cNvPr id="159" name="Google Shape;159;p22" title="[0,0,0,&quot;https://www.codecogs.com/eqnedit.php?latex=BERT_%7Bbase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450" y="1852244"/>
            <a:ext cx="965550" cy="19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71375" y="143000"/>
            <a:ext cx="8945400" cy="6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Sample Synthetic Data(SE, high probability &amp; overconfidence)</a:t>
            </a:r>
            <a:endParaRPr sz="2420"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1"/>
          </p:nvPr>
        </p:nvSpPr>
        <p:spPr>
          <a:xfrm>
            <a:off x="552425" y="4244150"/>
            <a:ext cx="1237500" cy="4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 Relabel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25" y="917775"/>
            <a:ext cx="8520602" cy="23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3800" y="3437749"/>
            <a:ext cx="6748501" cy="150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 txBox="1"/>
          <p:nvPr/>
        </p:nvSpPr>
        <p:spPr>
          <a:xfrm>
            <a:off x="375225" y="1086225"/>
            <a:ext cx="225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74" name="Google Shape;174;p24"/>
          <p:cNvSpPr txBox="1">
            <a:spLocks noGrp="1"/>
          </p:cNvSpPr>
          <p:nvPr>
            <p:ph type="body" idx="1"/>
          </p:nvPr>
        </p:nvSpPr>
        <p:spPr>
          <a:xfrm>
            <a:off x="7535425" y="1358875"/>
            <a:ext cx="1608600" cy="29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On average: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21% ECE decrease;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7% ACC increase;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5/6 outperform other methods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5" name="Google Shape;17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50" y="1152475"/>
            <a:ext cx="7292527" cy="370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>
            <a:spLocks noGrp="1"/>
          </p:cNvSpPr>
          <p:nvPr>
            <p:ph type="title"/>
          </p:nvPr>
        </p:nvSpPr>
        <p:spPr>
          <a:xfrm>
            <a:off x="311700" y="464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Ablation Study</a:t>
            </a:r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body" idx="1"/>
          </p:nvPr>
        </p:nvSpPr>
        <p:spPr>
          <a:xfrm>
            <a:off x="483300" y="3304050"/>
            <a:ext cx="8349000" cy="9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Pearson Correlation Table : A moderate positive association between the llama 2’s accuracy and the accuracy improvement in downstream tasks.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2" name="Google Shape;182;p25"/>
          <p:cNvPicPr preferRelativeResize="0"/>
          <p:nvPr/>
        </p:nvPicPr>
        <p:blipFill rotWithShape="1">
          <a:blip r:embed="rId3">
            <a:alphaModFix/>
          </a:blip>
          <a:srcRect l="-13486" t="-6859" r="-3582" b="6859"/>
          <a:stretch/>
        </p:blipFill>
        <p:spPr>
          <a:xfrm>
            <a:off x="650950" y="1673275"/>
            <a:ext cx="6477099" cy="13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/>
          <p:nvPr/>
        </p:nvSpPr>
        <p:spPr>
          <a:xfrm>
            <a:off x="4724800" y="2445000"/>
            <a:ext cx="806400" cy="253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>
            <a:spLocks noGrp="1"/>
          </p:cNvSpPr>
          <p:nvPr>
            <p:ph type="title"/>
          </p:nvPr>
        </p:nvSpPr>
        <p:spPr>
          <a:xfrm>
            <a:off x="361025" y="464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body" idx="1"/>
          </p:nvPr>
        </p:nvSpPr>
        <p:spPr>
          <a:xfrm>
            <a:off x="277175" y="1370950"/>
            <a:ext cx="8520600" cy="32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Purposefully generated synthetic data can enhance classification performance and reduce calibration error in downstream NLP tasks.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Advanced LLMs or fine-tuning LLMs to incorporate domain knowledge may improve performance. </a:t>
            </a:r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28.5|6.1|3.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</Words>
  <Application>Microsoft Office PowerPoint</Application>
  <PresentationFormat>On-screen Show (16:9)</PresentationFormat>
  <Paragraphs>65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Fill In The Gaps: Model Calibration and Generalization with Synthetic Data</vt:lpstr>
      <vt:lpstr>Classifier Evaluation</vt:lpstr>
      <vt:lpstr>Model Uncertainty</vt:lpstr>
      <vt:lpstr>Model Calibration</vt:lpstr>
      <vt:lpstr>Motivation</vt:lpstr>
      <vt:lpstr>Our Proposed Framework</vt:lpstr>
      <vt:lpstr>Expected Calibration Error Bound</vt:lpstr>
      <vt:lpstr>Synthetic Data Generation Strategy</vt:lpstr>
      <vt:lpstr>Toy example</vt:lpstr>
      <vt:lpstr>Experiments</vt:lpstr>
      <vt:lpstr>Sample Synthetic Data(SE, high probability &amp; overconfidence)</vt:lpstr>
      <vt:lpstr>Results</vt:lpstr>
      <vt:lpstr>Ablation Study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Yang Ba</cp:lastModifiedBy>
  <cp:revision>2</cp:revision>
  <dcterms:modified xsi:type="dcterms:W3CDTF">2025-12-10T02:43:13Z</dcterms:modified>
</cp:coreProperties>
</file>